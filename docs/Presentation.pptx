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4400" b="1">
                <a:solidFill>
                  <a:srgbClr val="F8FAFC"/>
                </a:solidFill>
                <a:latin typeface="Calibri"/>
              </a:rPr>
              <a:t>Global Development &amp; Economic Performance</a:t>
            </a:r>
          </a:p>
          <a:p>
            <a:pPr>
              <a:spcAft>
                <a:spcPts val="2400"/>
              </a:spcAft>
            </a:pPr>
            <a:r>
              <a:rPr sz="2000">
                <a:solidFill>
                  <a:srgbClr val="93C5FD"/>
                </a:solidFill>
                <a:latin typeface="Calibri"/>
              </a:rPr>
              <a:t>Interactive Power BI Analysis Across 229 Countries and 7 Regions</a:t>
            </a:r>
          </a:p>
          <a:p>
            <a:r>
              <a:rPr sz="1500">
                <a:solidFill>
                  <a:srgbClr val="94A3B8"/>
                </a:solidFill>
                <a:latin typeface="Calibri"/>
              </a:rPr>
              <a:t>Prepared by: Atef Khalaf | Junior Business Intelligence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pt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PART 1: DATA PREPARATION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Power Query Pipeline Cleaned 229 Countries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3776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Six Structural Fixes Applied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Schema &amp; Delimiter: </a:t>
            </a:r>
            <a:r>
              <a:rPr sz="1600">
                <a:solidFill>
                  <a:srgbClr val="475569"/>
                </a:solidFill>
                <a:latin typeface="Calibri"/>
              </a:rPr>
              <a:t>Parsed semicolon CSV and removed Row 2 schema text.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Filtered Aggregates: </a:t>
            </a:r>
            <a:r>
              <a:rPr sz="1600">
                <a:solidFill>
                  <a:srgbClr val="475569"/>
                </a:solidFill>
                <a:latin typeface="Calibri"/>
              </a:rPr>
              <a:t>Excluded #European Union and 33 uninhabited islands.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Region Enrichment: </a:t>
            </a:r>
            <a:r>
              <a:rPr sz="1600">
                <a:solidFill>
                  <a:srgbClr val="475569"/>
                </a:solidFill>
                <a:latin typeface="Calibri"/>
              </a:rPr>
              <a:t>Standardized 11 names and merged 7 global regions.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Source: Country Data Comparison.csv | Power Query Editor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pt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PARTS 2 &amp; 3: DATA MODEL &amp; DAX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14 DAX Measures Power Dynamic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3776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Model &amp; Measure Architecture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Geographic Hierarchy: </a:t>
            </a:r>
            <a:r>
              <a:rPr sz="1600">
                <a:solidFill>
                  <a:srgbClr val="475569"/>
                </a:solidFill>
                <a:latin typeface="Calibri"/>
              </a:rPr>
              <a:t>Configured Region -&gt; Country for Azure Maps.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Four Classifications: </a:t>
            </a:r>
            <a:r>
              <a:rPr sz="1600">
                <a:solidFill>
                  <a:srgbClr val="475569"/>
                </a:solidFill>
                <a:latin typeface="Calibri"/>
              </a:rPr>
              <a:t>Built GDP, Population, Development, and Growth tiers.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Dynamic Ranking: </a:t>
            </a:r>
            <a:r>
              <a:rPr sz="1600">
                <a:solidFill>
                  <a:srgbClr val="475569"/>
                </a:solidFill>
                <a:latin typeface="Calibri"/>
              </a:rPr>
              <a:t>Used RANKX, TOPN, DIVIDE, and CALCULATE for KPIs.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Source: Power BI Data Model | _Measures 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pt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PAGE 1: EXECUTIVE OVERVIEW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Top 20 Economies Drive 80% of Global GDP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3776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Executive Dashboard Findings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Global Scale: </a:t>
            </a:r>
            <a:r>
              <a:rPr sz="1600">
                <a:solidFill>
                  <a:srgbClr val="475569"/>
                </a:solidFill>
                <a:latin typeface="Calibri"/>
              </a:rPr>
              <a:t>$55.64T total GDP across 6.45B global population.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Top Performers: </a:t>
            </a:r>
            <a:r>
              <a:rPr sz="1600">
                <a:solidFill>
                  <a:srgbClr val="475569"/>
                </a:solidFill>
                <a:latin typeface="Calibri"/>
              </a:rPr>
              <a:t>US ($11.75T), China ($7.26T), and Japan ($3.75T) lead.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Asia Dominance: </a:t>
            </a:r>
            <a:r>
              <a:rPr sz="1600">
                <a:solidFill>
                  <a:srgbClr val="475569"/>
                </a:solidFill>
                <a:latin typeface="Calibri"/>
              </a:rPr>
              <a:t>Asia accounts for 56.6% of population and $19.62T GDP.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Source: Power BI Dashboard — Page 1 (Executive Overview)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pt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PAGE 2: HEALTH &amp; DEMOGRAPHICS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Income Strongly Lifts Life Expectancy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3776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Health &amp; Demographic Insights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Income Link (r = +0.60): </a:t>
            </a:r>
            <a:r>
              <a:rPr sz="1600">
                <a:solidFill>
                  <a:srgbClr val="475569"/>
                </a:solidFill>
                <a:latin typeface="Calibri"/>
              </a:rPr>
              <a:t>Europe reaches 76.5 years vs. 50.5 in Sub-Saharan Africa.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Demographic Gap: </a:t>
            </a:r>
            <a:r>
              <a:rPr sz="1600">
                <a:solidFill>
                  <a:srgbClr val="475569"/>
                </a:solidFill>
                <a:latin typeface="Calibri"/>
              </a:rPr>
              <a:t>Sub-Saharan Africa averages 35.8 births per 1,000.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Infant Survival: </a:t>
            </a:r>
            <a:r>
              <a:rPr sz="1600">
                <a:solidFill>
                  <a:srgbClr val="475569"/>
                </a:solidFill>
                <a:latin typeface="Calibri"/>
              </a:rPr>
              <a:t>Infant mortality correlates at r = -0.89 with longevity.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Source: Power BI Dashboard — Page 2 (Health &amp; Education)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pt_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PAGE 3: ECONOMIC PERFORMANCE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Inflation Erodes Growth as Exporters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3776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Trade &amp; Macroeconomic Trends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Fastest Growth: </a:t>
            </a:r>
            <a:r>
              <a:rPr sz="1600">
                <a:solidFill>
                  <a:srgbClr val="475569"/>
                </a:solidFill>
                <a:latin typeface="Calibri"/>
              </a:rPr>
              <a:t>MENA (7.04%) and Asia (6.23%) lead real GDP expansion.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Inflation Drag: </a:t>
            </a:r>
            <a:r>
              <a:rPr sz="1600">
                <a:solidFill>
                  <a:srgbClr val="475569"/>
                </a:solidFill>
                <a:latin typeface="Calibri"/>
              </a:rPr>
              <a:t>Zimbabwe's 133% inflation drives -8.2% GDP contraction.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Trade Balances: </a:t>
            </a:r>
            <a:r>
              <a:rPr sz="1600">
                <a:solidFill>
                  <a:srgbClr val="475569"/>
                </a:solidFill>
                <a:latin typeface="Calibri"/>
              </a:rPr>
              <a:t>Germany (+$176.6B) leads surpluses; US (-$681B) in deficit.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Source: Power BI Dashboard — Page 3 (Economic Performance)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pt_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PAGE 4: INTERACTIVE DRILL-THROUGH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Drill-Through Profiles Isolate Country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3776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United States Drill-Through Case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Economic Output: </a:t>
            </a:r>
            <a:r>
              <a:rPr sz="1600">
                <a:solidFill>
                  <a:srgbClr val="475569"/>
                </a:solidFill>
                <a:latin typeface="Calibri"/>
              </a:rPr>
              <a:t>#1 ranked globally at $11.75T GDP and $40,100 per capita.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Demographics: </a:t>
            </a:r>
            <a:r>
              <a:rPr sz="1600">
                <a:solidFill>
                  <a:srgbClr val="475569"/>
                </a:solidFill>
                <a:latin typeface="Calibri"/>
              </a:rPr>
              <a:t>295.73M population with 77.7 years life expectancy.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Steady Expansion: </a:t>
            </a:r>
            <a:r>
              <a:rPr sz="1600">
                <a:solidFill>
                  <a:srgbClr val="475569"/>
                </a:solidFill>
                <a:latin typeface="Calibri"/>
              </a:rPr>
              <a:t>4.40% real GDP growth and 30.71 people per sq km.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Source: Power BI Dashboard — Page 4 (Country Profile)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PART 6: RECOMMENDATIONS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Three Strategic Priorities Guide Policy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1. Primary Healthcare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Target Infant Survival: </a:t>
            </a:r>
            <a:r>
              <a:rPr sz="1600">
                <a:solidFill>
                  <a:srgbClr val="475569"/>
                </a:solidFill>
                <a:latin typeface="Calibri"/>
              </a:rPr>
              <a:t>Direct grants to maternal care in Sub-Saharan Africa.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Combat Infectious Disease: </a:t>
            </a:r>
            <a:r>
              <a:rPr sz="1600">
                <a:solidFill>
                  <a:srgbClr val="475569"/>
                </a:solidFill>
                <a:latin typeface="Calibri"/>
              </a:rPr>
              <a:t>Expand HIV/AIDS treatment to lift workforce longevity.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2. Monetary Stability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Curb High Inflation: </a:t>
            </a:r>
            <a:r>
              <a:rPr sz="1600">
                <a:solidFill>
                  <a:srgbClr val="475569"/>
                </a:solidFill>
                <a:latin typeface="Calibri"/>
              </a:rPr>
              <a:t>Tie aid to inflation targeting in &gt;15% inflation states.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Restructure Public Debt: </a:t>
            </a:r>
            <a:r>
              <a:rPr sz="1600">
                <a:solidFill>
                  <a:srgbClr val="475569"/>
                </a:solidFill>
                <a:latin typeface="Calibri"/>
              </a:rPr>
              <a:t>Reduce external debt burdens to restore investor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3. Export Infrastructure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Reinvest Surpluses: </a:t>
            </a:r>
            <a:r>
              <a:rPr sz="1600">
                <a:solidFill>
                  <a:srgbClr val="475569"/>
                </a:solidFill>
                <a:latin typeface="Calibri"/>
              </a:rPr>
              <a:t>Channel MENA and Asian trade gains into power grids.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Digital Connectivity: </a:t>
            </a:r>
            <a:r>
              <a:rPr sz="1600">
                <a:solidFill>
                  <a:srgbClr val="475569"/>
                </a:solidFill>
                <a:latin typeface="Calibri"/>
              </a:rPr>
              <a:t>Expand broadband and rail to diversify export bases.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Source: Executive Policy Synthesis | Country Data Comparison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3800" b="1">
                <a:solidFill>
                  <a:srgbClr val="F8FAFC"/>
                </a:solidFill>
                <a:latin typeface="Calibri"/>
              </a:rPr>
              <a:t>Data-Driven Insights Empower Sustainable Growth.</a:t>
            </a:r>
          </a:p>
          <a:p>
            <a:r>
              <a:rPr sz="2000">
                <a:solidFill>
                  <a:srgbClr val="93C5FD"/>
                </a:solidFill>
                <a:latin typeface="Calibri"/>
              </a:rPr>
              <a:t>Prepared by: Atef Khalaf | Thank You &amp;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